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5975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7377">
              <a:alpha val="28000"/>
            </a:srgbClr>
          </a:solidFill>
          <a:ln w="12700">
            <a:solidFill>
              <a:srgbClr val="0D7377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F5A623">
              <a:alpha val="45000"/>
            </a:srgbClr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9728" cy="2926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199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C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LEARNING MODE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 •  Commerce  •  Microbiology</a:t>
            </a:r>
            <a:br>
              <a:rPr lang="en-US" sz="15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5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:VIRAJ MARU(MCA-2)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78231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 Head of Department  |  Duration: 60 Minutes  |  Academic Innovation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Agenda — What We Will Cover Today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60-minute journey through Gemini's Guided Learning Mode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73152" cy="7315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563624"/>
            <a:ext cx="438912" cy="438912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5636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78408" y="149047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in Education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78408" y="18745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417320"/>
            <a:ext cx="73152" cy="7315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73168" y="1563624"/>
            <a:ext cx="438912" cy="43891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5636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21808" y="149047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Guided Learning Mode?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321808" y="18745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267712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5A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267712"/>
            <a:ext cx="73152" cy="73152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" y="2414016"/>
            <a:ext cx="438912" cy="438912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4140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78408" y="2340864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Principles — Socratic Method &amp; AI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78408" y="272491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267712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267712"/>
            <a:ext cx="73152" cy="731520"/>
          </a:xfrm>
          <a:prstGeom prst="rect">
            <a:avLst/>
          </a:prstGeom>
          <a:solidFill>
            <a:srgbClr val="6E2F8F"/>
          </a:solidFill>
          <a:ln w="12700">
            <a:solidFill>
              <a:srgbClr val="6E2F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2414016"/>
            <a:ext cx="438912" cy="438912"/>
          </a:xfrm>
          <a:prstGeom prst="ellipse">
            <a:avLst/>
          </a:prstGeom>
          <a:solidFill>
            <a:srgbClr val="6E2F8F"/>
          </a:solidFill>
          <a:ln w="12700">
            <a:solidFill>
              <a:srgbClr val="6E2F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4140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21808" y="2340864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Department-wise Applications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321808" y="272491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3118104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118104"/>
            <a:ext cx="73152" cy="7315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9768" y="3264408"/>
            <a:ext cx="438912" cy="43891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" y="32644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78408" y="3191256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Water Pollution (3 Angles)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78408" y="357530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3118104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3118104"/>
            <a:ext cx="73152" cy="7315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73168" y="3264408"/>
            <a:ext cx="438912" cy="43891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32644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321808" y="3191256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Step by Step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321808" y="357530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0040" y="3968496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" y="3968496"/>
            <a:ext cx="73152" cy="7315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9768" y="4114800"/>
            <a:ext cx="438912" cy="438912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9768" y="4114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78408" y="4041648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Assignments, Viva &amp; Exams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978408" y="44256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663440" y="3968496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5A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63440" y="3968496"/>
            <a:ext cx="73152" cy="73152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73168" y="4114800"/>
            <a:ext cx="438912" cy="438912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73168" y="4114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321808" y="4041648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Benefits, Challenges &amp; Future Scope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5321808" y="44256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873752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Guided Learning Mode  |  Academic AI Innovation  |  1-Hour Deep Dive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The Rise of AI in Education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192024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educators say AI improves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engagement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05840"/>
            <a:ext cx="192024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4173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3.5×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560320" y="22402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concept retention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guided AI learning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00584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005840"/>
            <a:ext cx="1920240" cy="411480"/>
          </a:xfrm>
          <a:prstGeom prst="rect">
            <a:avLst/>
          </a:prstGeom>
          <a:solidFill>
            <a:srgbClr val="6E2F8F"/>
          </a:solidFill>
          <a:ln w="12700">
            <a:solidFill>
              <a:srgbClr val="6E2F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4173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E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709160" y="22402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education market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at $20 Billion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00584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5A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005840"/>
            <a:ext cx="1920240" cy="41148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4173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858000" y="22402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prefer interactive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over lectures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154680"/>
            <a:ext cx="8503920" cy="14630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54680"/>
            <a:ext cx="91440" cy="1463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2186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Education vs. AI-Powered Education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61188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C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Traditional: </a:t>
            </a: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explains → Student listens → Student memorizes → Exam tests memory
</a:t>
            </a:r>
            <a:r>
              <a:rPr lang="en-US" sz="1250" b="1" dirty="0">
                <a:solidFill>
                  <a:srgbClr val="FFC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AI-Powered: </a:t>
            </a: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questions → Student thinks → Student discovers → Deep understanding retained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73752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Guided Learning Mode  |  Academic AI Innovation  |  1-Hour Deep Dive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What Is Guided Learning Mode?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960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feature in Gemini that teaches topics step-by-step through guided questions — encouraging students to think logically and reach conclusions on their own, rather than receiving direct answers.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10312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A6A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5840" y="2176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Question-Led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52374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giving answers, Gemini asks targeted questions that guide the student toward the correct reasoning path.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210312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A6A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49240" y="2176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Goal-Oriented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252374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is designed with a specific learning objective — building concepts layer by layer, brick by brick.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38328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A6A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3474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05840" y="34564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80390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adjusts its questioning style, depth, and complexity based on how the student responds in real-time.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338328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A6A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3474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349240" y="34564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Retention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380390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discover answers themselves retain information 3–5× longer than those who passively receive answers.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873752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Guided Learning Mode  |  Academic AI Innovation  |  1-Hour Deep Dive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The Socratic Method — Ancient Wisdom, Modern AI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37490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143000"/>
            <a:ext cx="1920240" cy="19202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14300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🏛️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31272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Socrates (470–399 BC)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cannot teach anybody anything.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only make them think."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1170432"/>
            <a:ext cx="475488" cy="47548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1704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30368" y="105156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Elenchus (Cross-Examination)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30368" y="13716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asks probing follow-up questions to test the student's understanding.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9202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45152" y="2084832"/>
            <a:ext cx="475488" cy="47548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20848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30368" y="196596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30368" y="22860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proposes an answer; AI tests it with counter-questions and edge cases.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8346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45152" y="2999232"/>
            <a:ext cx="475488" cy="47548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29992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30368" y="288036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Aporia (Productive Confusion)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30368" y="32004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creates 'aha!' moments by leading students to their own contradictions.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3749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45152" y="3913632"/>
            <a:ext cx="475488" cy="47548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39136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30368" y="379476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Anamnesis (Self-Discovery)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230368" y="41148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ultimately realises the truth from within — deep, lasting learning.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873752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Guided Learning Mode  |  Academic AI Innovation  |  1-Hour Deep Dive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Management Department — Applications &amp; Use Cases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698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Management Students Use Guided Learning Mode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783080"/>
            <a:ext cx="73152" cy="8686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379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Business Case Studies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167128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asks: 'What factors led to Nokia's decline? Before answering, list the external pressures first.'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78308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783080"/>
            <a:ext cx="73152" cy="8686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379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 SWOT Analysis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167128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asks: 'Before listing strengths, can you define what makes something a strength vs. an opportunity?'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770632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770632"/>
            <a:ext cx="73152" cy="8686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254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Marketing Strategy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154680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asks: 'If your target market is Gen Z, which of the 4 Ps would you prioritise — and why?'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770632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770632"/>
            <a:ext cx="73152" cy="8686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8254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Supply Chain Management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154680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asks: 'What happens to inventory levels when demand forecasting is inaccurate?'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758184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758184"/>
            <a:ext cx="73152" cy="8686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130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Entrepreneurship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4142232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asks: 'Name 3 risks a startup faces in Year 1. Which is the most critical to survival?'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3758184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758184"/>
            <a:ext cx="73152" cy="8686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8130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HR &amp; Leadership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4142232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asks: 'If employee attrition rises by 20%, trace the root causes step by step.'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73752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Guided Learning Mode  |  Academic AI Innovation  |  1-Hour Deep Dive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Commerce Department — Applications &amp; Use Cases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658368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698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Commerce Students Use Guided Learning Mode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5A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783080"/>
            <a:ext cx="73152" cy="86868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379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 GST &amp; Taxation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167128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asks: 'If a product moves from manufacturer to retailer, at which stage does GST apply — and who pays it?'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78308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5A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783080"/>
            <a:ext cx="73152" cy="86868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379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Balance Sheets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167128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asks: 'If liabilities exceed assets, what does that indicate? What would be the business owner's next step?'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770632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5A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770632"/>
            <a:ext cx="73152" cy="86868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254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📒  Financial Accounting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154680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asks: 'Before recording a journal entry, can you identify whether this transaction affects assets or liabilities?'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770632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5A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770632"/>
            <a:ext cx="73152" cy="86868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8254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Banking &amp; Finance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154680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asks: 'Explain why central banks raise interest rates when inflation is high — step by step.'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758184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5A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758184"/>
            <a:ext cx="73152" cy="86868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130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Economics — Demand &amp; Supply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4142232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asks: 'If petrol prices double, trace the ripple effect on 3 other industries.'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3758184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5A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758184"/>
            <a:ext cx="73152" cy="86868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8130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Business Law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4142232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asks: 'In a breach of contract scenario, who bears the burden of proof — and why?'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73752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Guided Learning Mode  |  Academic AI Innovation  |  1-Hour Deep Dive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E2F8F"/>
          </a:solidFill>
          <a:ln w="12700">
            <a:solidFill>
              <a:srgbClr val="6E2F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Microbiology Department — Applications &amp; Use Cases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658368"/>
          </a:xfrm>
          <a:prstGeom prst="rect">
            <a:avLst/>
          </a:prstGeom>
          <a:solidFill>
            <a:srgbClr val="6E2F8F"/>
          </a:solidFill>
          <a:ln w="12700">
            <a:solidFill>
              <a:srgbClr val="6E2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698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Microbiology Students Use Guided Learning Mode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783080"/>
            <a:ext cx="73152" cy="868680"/>
          </a:xfrm>
          <a:prstGeom prst="rect">
            <a:avLst/>
          </a:prstGeom>
          <a:solidFill>
            <a:srgbClr val="6E2F8F"/>
          </a:solidFill>
          <a:ln w="12700">
            <a:solidFill>
              <a:srgbClr val="6E2F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379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🧫  Cell Structures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167128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asks: 'Before naming organelles, can you explain what problem each organelle solves for the cell?'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78308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783080"/>
            <a:ext cx="73152" cy="868680"/>
          </a:xfrm>
          <a:prstGeom prst="rect">
            <a:avLst/>
          </a:prstGeom>
          <a:solidFill>
            <a:srgbClr val="6E2F8F"/>
          </a:solidFill>
          <a:ln w="12700">
            <a:solidFill>
              <a:srgbClr val="6E2F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379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Lab Experiments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167128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asks: 'Why do we use a control group? What would happen to your results without it?'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770632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770632"/>
            <a:ext cx="73152" cy="868680"/>
          </a:xfrm>
          <a:prstGeom prst="rect">
            <a:avLst/>
          </a:prstGeom>
          <a:solidFill>
            <a:srgbClr val="6E2F8F"/>
          </a:solidFill>
          <a:ln w="12700">
            <a:solidFill>
              <a:srgbClr val="6E2F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254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⚗️  Bacterial Metabolism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154680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asks: 'If a bacterium lacks mitochondria, how does it generate energy? Trace the pathway.'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770632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770632"/>
            <a:ext cx="73152" cy="868680"/>
          </a:xfrm>
          <a:prstGeom prst="rect">
            <a:avLst/>
          </a:prstGeom>
          <a:solidFill>
            <a:srgbClr val="6E2F8F"/>
          </a:solidFill>
          <a:ln w="12700">
            <a:solidFill>
              <a:srgbClr val="6E2F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8254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Microbial Genetics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154680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asks: 'How does a single gene mutation affect protein synthesis? Describe step by step.'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758184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758184"/>
            <a:ext cx="73152" cy="868680"/>
          </a:xfrm>
          <a:prstGeom prst="rect">
            <a:avLst/>
          </a:prstGeom>
          <a:solidFill>
            <a:srgbClr val="6E2F8F"/>
          </a:solidFill>
          <a:ln w="12700">
            <a:solidFill>
              <a:srgbClr val="6E2F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130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🦠  Epidemiology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4142232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asks: 'If R₀ of a pathogen is 2.5, what vaccination coverage is needed for herd immunity?'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3758184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758184"/>
            <a:ext cx="73152" cy="868680"/>
          </a:xfrm>
          <a:prstGeom prst="rect">
            <a:avLst/>
          </a:prstGeom>
          <a:solidFill>
            <a:srgbClr val="6E2F8F"/>
          </a:solidFill>
          <a:ln w="12700">
            <a:solidFill>
              <a:srgbClr val="6E2F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8130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Sterilisation Methods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4142232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asks: 'Autoclaving uses pressure and heat — but why is pressure needed if heat alone kills bacteria?'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73752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Guided Learning Mode  |  Academic AI Innovation  |  1-Hour Deep Dive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FFC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Water Pollution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Topic — Three Disciplines — Three Completely Different Guided Learning Experiences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C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Management  </a:t>
            </a:r>
            <a:r>
              <a:rPr lang="en-US" sz="13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Business Strategy &amp; Risk        </a:t>
            </a:r>
            <a:r>
              <a:rPr lang="en-US" sz="1350" b="1" dirty="0">
                <a:solidFill>
                  <a:srgbClr val="FFC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Commerce  </a:t>
            </a:r>
            <a:r>
              <a:rPr lang="en-US" sz="13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Economic Impact Analysis        </a:t>
            </a:r>
            <a:r>
              <a:rPr lang="en-US" sz="1350" b="1" dirty="0">
                <a:solidFill>
                  <a:srgbClr val="FFC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Microbiology  </a:t>
            </a:r>
            <a:r>
              <a:rPr lang="en-US" sz="13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Bacterial Effects in Water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Gemini. Same Topic. Personalised for Each Discipline.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Demo: Water Pollution — Management Perspective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594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332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Water Pollution as a Business Strategy Challenge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685800" cy="5669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91640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728216"/>
            <a:ext cx="5303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industries directly depend on clean water? Rank them by dependency level.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18013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Activates prior knowledge — maps stakeholders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313432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13432"/>
            <a:ext cx="685800" cy="5669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313432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350008"/>
            <a:ext cx="5303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factory causes water pollution and faces legal action, list the financial risks step by step.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4231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Builds cost-risk mapping skills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935224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35224"/>
            <a:ext cx="685800" cy="5669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935224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2971800"/>
            <a:ext cx="5303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business opportunity in water purification? Name 3 existing companies and their models.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304495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Connects problem to entrepreneurship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557016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557016"/>
            <a:ext cx="685800" cy="5669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557016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593592"/>
            <a:ext cx="5303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a SWOT analysis of a company that treats polluted industrial water.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366674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Applies core management framework to real scenario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4178808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4178808"/>
            <a:ext cx="685800" cy="5669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178808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4215384"/>
            <a:ext cx="5303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were a CEO, what CSR policy would you design around water sustainability?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428853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Develops leadership and strategic thinking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873752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Guided Learning Mode  |  Academic AI Innovation  |  1-Hour Deep Dive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Demo: Water Pollution — Commerce Perspective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59436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332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Water Pollution as an Economic &amp; Financial Issue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45A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685800" cy="566928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91640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728216"/>
            <a:ext cx="5303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direct economic costs of water pollution to a country's GDP? Name 3 sectors affected.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18013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Builds macroeconomic awareness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313432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45A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13432"/>
            <a:ext cx="685800" cy="566928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313432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350008"/>
            <a:ext cx="5303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polluted river water reduce agricultural output — and how is this recorded in national accounts?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4231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Connects environment to accounting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935224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45A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35224"/>
            <a:ext cx="685800" cy="566928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935224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2971800"/>
            <a:ext cx="5303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basic cost-benefit analysis: cleanup cost vs. long-term economic gains from clean water.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304495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Applies core commerce computation skill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557016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45A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557016"/>
            <a:ext cx="685800" cy="566928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557016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593592"/>
            <a:ext cx="5303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company discharges waste illegally, how would this liability appear on their balance sheet?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366674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Integrates environmental law with accounting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4178808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45A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4178808"/>
            <a:ext cx="685800" cy="566928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178808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4215384"/>
            <a:ext cx="5303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GST or tax implications arise when a firm invests in water treatment infrastructure?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428853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Applies tax knowledge to real context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873752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Guided Learning Mode  |  Academic AI Innovation  |  1-Hour Deep Dive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E2F8F"/>
          </a:solidFill>
          <a:ln w="12700">
            <a:solidFill>
              <a:srgbClr val="6E2F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Demo: Water Pollution — Microbiology Perspective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594360"/>
          </a:xfrm>
          <a:prstGeom prst="rect">
            <a:avLst/>
          </a:prstGeom>
          <a:solidFill>
            <a:srgbClr val="6E2F8F"/>
          </a:solidFill>
          <a:ln w="12700">
            <a:solidFill>
              <a:srgbClr val="6E2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332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Microbial Effects &amp; Contamination in Polluted Water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685800" cy="566928"/>
          </a:xfrm>
          <a:prstGeom prst="rect">
            <a:avLst/>
          </a:prstGeom>
          <a:solidFill>
            <a:srgbClr val="6E2F8F"/>
          </a:solidFill>
          <a:ln w="12700">
            <a:solidFill>
              <a:srgbClr val="6E2F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91640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728216"/>
            <a:ext cx="5303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pathogenic bacteria are most commonly found in sewage-contaminated water? Classify them.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18013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Tests microbial classification skills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313432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13432"/>
            <a:ext cx="685800" cy="566928"/>
          </a:xfrm>
          <a:prstGeom prst="rect">
            <a:avLst/>
          </a:prstGeom>
          <a:solidFill>
            <a:srgbClr val="6E2F8F"/>
          </a:solidFill>
          <a:ln w="12700">
            <a:solidFill>
              <a:srgbClr val="6E2F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313432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350008"/>
            <a:ext cx="5303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Escherichia coli survive in polluted water sources? Describe its adaptations.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4231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Connects microbiology to environmental science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935224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35224"/>
            <a:ext cx="685800" cy="566928"/>
          </a:xfrm>
          <a:prstGeom prst="rect">
            <a:avLst/>
          </a:prstGeom>
          <a:solidFill>
            <a:srgbClr val="6E2F8F"/>
          </a:solidFill>
          <a:ln w="12700">
            <a:solidFill>
              <a:srgbClr val="6E2F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935224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2971800"/>
            <a:ext cx="5303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biofilm formation? How do bacteria use it in industrial effluent environments?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304495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Applies structural microbiology knowledge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557016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557016"/>
            <a:ext cx="685800" cy="566928"/>
          </a:xfrm>
          <a:prstGeom prst="rect">
            <a:avLst/>
          </a:prstGeom>
          <a:solidFill>
            <a:srgbClr val="6E2F8F"/>
          </a:solidFill>
          <a:ln w="12700">
            <a:solidFill>
              <a:srgbClr val="6E2F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557016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593592"/>
            <a:ext cx="5303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lab protocol to test whether a water sample from a river contains coliforms.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366674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Builds experimental design skills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4178808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4178808"/>
            <a:ext cx="685800" cy="566928"/>
          </a:xfrm>
          <a:prstGeom prst="rect">
            <a:avLst/>
          </a:prstGeom>
          <a:solidFill>
            <a:srgbClr val="6E2F8F"/>
          </a:solidFill>
          <a:ln w="12700">
            <a:solidFill>
              <a:srgbClr val="6E2F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178808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4215384"/>
            <a:ext cx="5303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drinks contaminated water, trace the infection pathway from mouth to intestine.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428853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Integrates anatomy with microbiology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873752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Guided Learning Mode  |  Academic AI Innovation  |  1-Hour Deep Dive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How Guided Learning Mode Works — Step by Step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274320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1498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Step 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14447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Enters Topic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1480" y="1856232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types a topic, concept or question into Gemini with Guided Mode enabled.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81528" y="1764792"/>
            <a:ext cx="146304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98755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87552"/>
            <a:ext cx="274320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01498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Step 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37560" y="14447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Analyses Depth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337560" y="1856232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identifies the complexity level and chooses the appropriate questioning strategy.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07608" y="1764792"/>
            <a:ext cx="146304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98755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987552"/>
            <a:ext cx="274320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01498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Step 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63640" y="14447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Guided Question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63640" y="1856232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poses an open-ended starter question to activate prior knowledge and set context.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290779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907792"/>
            <a:ext cx="274320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93522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Step 4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11480" y="33649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Responds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11480" y="3776472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answers freely — no judgment, no right/wrong pressure. AI listens carefully.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081528" y="3685032"/>
            <a:ext cx="146304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290779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46120" y="2907792"/>
            <a:ext cx="274320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293522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Step 5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337560" y="33649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Evaluates &amp; Probes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337560" y="3776472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assesses the response and generates a follow-up question to deepen understanding.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007608" y="3685032"/>
            <a:ext cx="146304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290779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2907792"/>
            <a:ext cx="274320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293522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Step 6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263640" y="33649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Unlocked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263640" y="3776472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3–6 rounds of dialogue, the student arrives at the answer through their own reasoning.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526280" y="2743200"/>
            <a:ext cx="109728" cy="1463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73752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Guided Learning Mode  |  Academic AI Innovation  |  1-Hour Deep Dive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Use Case 1 — Assignments &amp; Project Work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4114800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424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Assignment Scenario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7947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Task: </a:t>
            </a: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assignment on 'Impact of Inflation on Consumer Behaviour'
</a:t>
            </a: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Guided Mode: </a:t>
            </a: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asks Gemini → Gets 800 words → Copies → Submits → Learns nothing.
</a:t>
            </a: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Guided Mode: </a:t>
            </a: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asks: 'Before writing, define inflation in your own words.' Then: 'How does it affect your own monthly household?' Then: 'Now apply this nationally...' Student builds the answer themselves.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A6A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005840"/>
            <a:ext cx="9144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607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Original Content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Student's answers are their own — assignment is authentic and plagiarism-free.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0" y="1938528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A6A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938528"/>
            <a:ext cx="9144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9933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Deeper Understanding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3500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constructing each paragraph themselves, students truly understand the topic.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0" y="2871216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A6A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2871216"/>
            <a:ext cx="9144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9260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Better Grades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2826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HODs and faculty can see genuine reasoning — not AI-generated filler text.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0" y="3803904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A6A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3803904"/>
            <a:ext cx="9144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8587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Interview Ready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421538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explain their assignment answers confidently in vivas and interviews.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73752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Guided Learning Mode  |  Academic AI Innovation  |  1-Hour Deep Dive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Use Case 2 — Viva Preparation &amp; Oral Exams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68580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4241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exams test spontaneous understanding — Guided Learning Mode simulates exactly that pressure in a safe environment.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4114800" cy="530352"/>
          </a:xfrm>
          <a:prstGeom prst="rect">
            <a:avLst/>
          </a:prstGeom>
          <a:solidFill>
            <a:srgbClr val="E8F4F8"/>
          </a:solidFill>
          <a:ln w="12700">
            <a:solidFill>
              <a:srgbClr val="0A19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80136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Examiner (Gemini):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osmosis without using the word 'membrane'.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2386584"/>
            <a:ext cx="411480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24048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26151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movement of water from a region of lower solute concentration to higher...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990088"/>
            <a:ext cx="4114800" cy="530352"/>
          </a:xfrm>
          <a:prstGeom prst="rect">
            <a:avLst/>
          </a:prstGeom>
          <a:solidFill>
            <a:srgbClr val="E8F4F8"/>
          </a:solidFill>
          <a:ln w="12700">
            <a:solidFill>
              <a:srgbClr val="0A19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00837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Examiner (Gemini):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2186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Interesting. Now, what happens to a red blood cell placed in hypertonic saline?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0" y="3593592"/>
            <a:ext cx="411480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361188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38221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shrink — the cell loses water by osmosis to the surrounding solution.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4197096"/>
            <a:ext cx="4114800" cy="530352"/>
          </a:xfrm>
          <a:prstGeom prst="rect">
            <a:avLst/>
          </a:prstGeom>
          <a:solidFill>
            <a:srgbClr val="E8F4F8"/>
          </a:solidFill>
          <a:ln w="12700">
            <a:solidFill>
              <a:srgbClr val="0A19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421538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Examiner (Gemini):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4256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Correct. Can you now relate this to how hospital IV drips are formulated?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4590288"/>
            <a:ext cx="8503920" cy="475488"/>
          </a:xfrm>
          <a:prstGeom prst="rect">
            <a:avLst/>
          </a:prstGeom>
          <a:solidFill>
            <a:srgbClr val="FFC85B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46360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Result: The student didn't just memorise a definition — they built conceptual connections. Viva performance improves dramatically.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Use Cases 3 &amp; 4 — Exam Revision &amp; Project Ideas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4114800" cy="457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332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Exam Revision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Instead of re-reading notes, student asks Gemini to quiz them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7568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Gemini starts with a broad question → narrows to specific details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7860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Identifies weak areas automatically based on wrong answers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08152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Spaced repetition: same concept revisited from new angles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5844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Outcome: Active recall instead of passive re-reading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08736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Research shows 40% better exam scores with active recall methods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42519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005840"/>
            <a:ext cx="4251960" cy="457200"/>
          </a:xfrm>
          <a:prstGeom prst="rect">
            <a:avLst/>
          </a:prstGeom>
          <a:solidFill>
            <a:srgbClr val="6E2F8F"/>
          </a:solidFill>
          <a:ln w="12700">
            <a:solidFill>
              <a:srgbClr val="6E2F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0332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Project Idea Generation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09160" y="1572768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'I need a project on antibiotic resistance'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2075688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Gemini: 'What angle interests you — lab, clinical, or social?'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2578608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Gemini: 'List 3 settings where overuse occurs — rank by impact'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3081528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Gemini: 'Which of these could you realistically study in your lab?'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3584448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Gemini: 'What hypothesis would you test? State it formally.'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4087368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Student owns the project idea — not AI-generated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873752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Guided Learning Mode  |  Academic AI Innovation  |  1-Hour Deep Dive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Key Benefits of Guided Learning Mode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74320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069848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499616"/>
            <a:ext cx="25603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develop the ability to analyse, question and reason — skills valued in every career and higher education.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024128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24128"/>
            <a:ext cx="274320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5156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1069848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Academic Performance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499616"/>
            <a:ext cx="25603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discovery-based learning leads to 40–60% better retention compared to passive note-reading methods.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1024128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024128"/>
            <a:ext cx="2743200" cy="384048"/>
          </a:xfrm>
          <a:prstGeom prst="rect">
            <a:avLst/>
          </a:prstGeom>
          <a:solidFill>
            <a:srgbClr val="6E2F8F"/>
          </a:solidFill>
          <a:ln w="12700">
            <a:solidFill>
              <a:srgbClr val="6E2F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05156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1069848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Learning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1499616"/>
            <a:ext cx="25603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gets a unique learning path based on their own responses — no two sessions are identical.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2898648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45A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898648"/>
            <a:ext cx="2743200" cy="384048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92608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2944368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Integrity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3374136"/>
            <a:ext cx="25603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build their own answers — guided, not given. Assignments reflect genuine understanding, not AI copy-paste.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46120" y="2898648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898648"/>
            <a:ext cx="2743200" cy="3840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292608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49040" y="2944368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Efficient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37560" y="3374136"/>
            <a:ext cx="25603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guided sessions of 15–20 minutes are more effective than 2 hours of unfocused note memorisation.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2898648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9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2898648"/>
            <a:ext cx="2743200" cy="384048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292608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75120" y="2944368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Cross-Discipline Thinking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63640" y="3374136"/>
            <a:ext cx="25603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begin connecting concepts across Management, Commerce and Science — building holistic intelligence.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73752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Guided Learning Mode  |  Academic AI Innovation  |  1-Hour Deep Dive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Challenges &amp; How We Overcome Them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6926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— Every tool has limitations. Here's how we address them: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73152" cy="594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538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Student may give up if questions feel too hard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Guided Mode adjusts difficulty — student can also ask for a hint to continue the dialogue.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075688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5A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75688"/>
            <a:ext cx="73152" cy="59436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1226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Internet dependency — Not always available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39572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Offline mode planned; institutions can integrate Gemini within campus Wi-Fi networks.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734056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734056"/>
            <a:ext cx="73152" cy="594360"/>
          </a:xfrm>
          <a:prstGeom prst="rect">
            <a:avLst/>
          </a:prstGeom>
          <a:solidFill>
            <a:srgbClr val="6E2F8F"/>
          </a:solidFill>
          <a:ln w="12700">
            <a:solidFill>
              <a:srgbClr val="6E2F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706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2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Students may try to bypass Guided Mode for direct answers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05409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Faculty can configure Guided Mode to be mandatory for specific assignments and submissions.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3392424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392424"/>
            <a:ext cx="73152" cy="5943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29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Language barrier for regional language students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71246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Gemini supports 40+ languages including Hindi — students can interact in their preferred language.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4050792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4050792"/>
            <a:ext cx="73152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087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Faculty resistance to AI in academic settings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3708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Guided Mode is transparent — faculty can review every Q&amp;A session log and assess student reasoning.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73752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Guided Learning Mode  |  Academic AI Innovation  |  1-Hour Deep Dive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Scope — What's Next for Guided AI Learning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338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🏫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023360" y="1024128"/>
            <a:ext cx="4572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0" y="10607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108813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Institution-Level Integration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146304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will integrate Guided Learning Mode directly into LMS (Learning Management Systems) like Moodle and Blackboard, making it part of official coursework.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24128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1338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366760" y="1024128"/>
            <a:ext cx="4572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0607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03520" y="108813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Analytics Dashboard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03520" y="146304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will get real-time dashboards showing each student's reasoning patterns, weak areas, and learning velocity — enabling personalised teaching at scale.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258568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23682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023360" y="2258568"/>
            <a:ext cx="4572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229514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0120" y="232257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AI-Assessed Viva Exams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0120" y="269748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will conduct and assess oral vivas autonomously — evaluating depth of reasoning, not just correct answers. Reduces examiner bias significantly.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258568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23682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🌏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366760" y="2258568"/>
            <a:ext cx="4572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229514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03520" y="232257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Guided Learning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303520" y="269748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support for Indian regional languages — Gujarati, Marathi, Tamil, Bengali — making AI-guided learning accessible to every student in India.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493008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0040" y="36027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4023360" y="3493008"/>
            <a:ext cx="4572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0" y="35295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60120" y="355701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Cross-Subject AI Mentoring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60120" y="393192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tutor connecting Management, Commerce and Science — helping students discover interdisciplinary connections automatically through guided dialogue.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493008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663440" y="36027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8366760" y="3493008"/>
            <a:ext cx="4572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66760" y="35295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03520" y="355701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Lab Integration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303520" y="393192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students will walk through virtual experiments guided by AI — asking questions at every step and adjusting variables in real-time simulations.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873752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Guided Learning Mode  |  Academic AI Innovation  |  1-Hour Deep Dive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40080"/>
            <a:ext cx="109728" cy="3840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943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7315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is Here.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24505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Guided Learning Mode transforms passive receivers into active thinkers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7121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Works seamlessly across Management, Commerce &amp; Microbiology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Same topic — Water Pollution — taught 3 completely different ways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71246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Prepares students for assignments, vivas, exams &amp; real-world thinking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13308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The future of AI in education is not about answers — it's about questions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76402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 Thank You  —  Gemini Guided Learning Mode: Teaching Smarter, Not Harder  🎓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2666</Words>
  <Application>Microsoft Office PowerPoint</Application>
  <PresentationFormat>On-screen Show (16:9)</PresentationFormat>
  <Paragraphs>333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Gemini Guided Learning Mode — Full Presentation</dc:title>
  <dc:subject>PptxGenJS Presentation</dc:subject>
  <dc:creator>PptxGenJS</dc:creator>
  <cp:lastModifiedBy>VIRAJ MARU</cp:lastModifiedBy>
  <cp:revision>4</cp:revision>
  <dcterms:created xsi:type="dcterms:W3CDTF">2026-04-04T16:42:22Z</dcterms:created>
  <dcterms:modified xsi:type="dcterms:W3CDTF">2026-04-05T03:48:55Z</dcterms:modified>
</cp:coreProperties>
</file>